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3" r:id="rId4"/>
    <p:sldId id="279" r:id="rId5"/>
    <p:sldId id="281" r:id="rId6"/>
    <p:sldId id="282" r:id="rId7"/>
    <p:sldId id="283" r:id="rId8"/>
    <p:sldId id="284" r:id="rId9"/>
    <p:sldId id="275" r:id="rId10"/>
    <p:sldId id="277" r:id="rId11"/>
  </p:sldIdLst>
  <p:sldSz cx="12192000" cy="6858000"/>
  <p:notesSz cx="6858000" cy="9144000"/>
  <p:embeddedFontLst>
    <p:embeddedFont>
      <p:font typeface="Raleway" pitchFamily="2" charset="-52"/>
      <p:regular r:id="rId13"/>
      <p:bold r:id="rId14"/>
      <p:italic r:id="rId15"/>
      <p:boldItalic r:id="rId16"/>
    </p:embeddedFont>
    <p:embeddedFont>
      <p:font typeface="Raleway Medium" pitchFamily="2" charset="-52"/>
      <p:regular r:id="rId17"/>
      <p:bold r:id="rId18"/>
      <p:italic r:id="rId19"/>
      <p:boldItalic r:id="rId20"/>
    </p:embeddedFont>
    <p:embeddedFont>
      <p:font typeface="Raleway SemiBold" pitchFamily="2" charset="-52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681">
          <p15:clr>
            <a:srgbClr val="A4A3A4"/>
          </p15:clr>
        </p15:guide>
        <p15:guide id="3" orient="horz" pos="391">
          <p15:clr>
            <a:srgbClr val="A4A3A4"/>
          </p15:clr>
        </p15:guide>
        <p15:guide id="4" orient="horz" pos="3725">
          <p15:clr>
            <a:srgbClr val="A4A3A4"/>
          </p15:clr>
        </p15:guide>
        <p15:guide id="5" pos="438">
          <p15:clr>
            <a:srgbClr val="A4A3A4"/>
          </p15:clr>
        </p15:guide>
        <p15:guide id="6" pos="3840">
          <p15:clr>
            <a:srgbClr val="A4A3A4"/>
          </p15:clr>
        </p15:guide>
        <p15:guide id="7" orient="horz" pos="1071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459">
          <p15:clr>
            <a:srgbClr val="A4A3A4"/>
          </p15:clr>
        </p15:guide>
        <p15:guide id="10" pos="3999">
          <p15:clr>
            <a:srgbClr val="A4A3A4"/>
          </p15:clr>
        </p15:guide>
        <p15:guide id="11" pos="7287">
          <p15:clr>
            <a:srgbClr val="A4A3A4"/>
          </p15:clr>
        </p15:guide>
        <p15:guide id="12" pos="37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cDMAX7IJOjU2citLMova0cfKe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869"/>
    <a:srgbClr val="00A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3" y="-331"/>
      </p:cViewPr>
      <p:guideLst>
        <p:guide orient="horz" pos="2160"/>
        <p:guide pos="3681"/>
        <p:guide orient="horz" pos="391"/>
        <p:guide orient="horz" pos="3725"/>
        <p:guide pos="438"/>
        <p:guide pos="3840"/>
        <p:guide orient="horz" pos="1071"/>
        <p:guide orient="horz" pos="3067"/>
        <p:guide orient="horz" pos="459"/>
        <p:guide pos="3999"/>
        <p:guide pos="7287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5285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396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031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6759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52B3CFD3-A829-5F95-4F5E-D48E79F4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FDB43416-62FF-3D97-E12D-ADF6067FD8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30B1EFD9-BEC5-F63B-6A35-BECEC2F22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5704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F12D9B9C-3025-D698-E2EA-84A99EB0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AA3A6A89-2EEF-E958-B588-B51677D0B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CB759F9A-3CED-1185-865F-1F1BCE3C8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6517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970A70D5-90CB-EE2C-D63C-E7DC1F720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B90FFE07-11EB-8C69-FA18-FC6BD163A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4BA3E1CA-D5E5-C768-95B9-24C9A73C9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0669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2A6F2024-0DD0-CC50-4BB2-865F4FDD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3B0A957C-B592-B687-02E5-7C134A937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B4415D27-E672-1E9C-6E8A-DF35351A7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8263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8DA2A3A8-7F33-34D3-E6AC-EE849A19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188D153F-277A-12C0-21DB-9CB4EA299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4398E48B-82E2-8FB1-12D0-EDE951028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976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10815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E7273D2A-C875-E91D-3CB6-07D46076A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>
            <a:extLst>
              <a:ext uri="{FF2B5EF4-FFF2-40B4-BE49-F238E27FC236}">
                <a16:creationId xmlns:a16="http://schemas.microsoft.com/office/drawing/2014/main" id="{217F844B-894D-92A7-E0B0-33EAA55DB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>
            <a:extLst>
              <a:ext uri="{FF2B5EF4-FFF2-40B4-BE49-F238E27FC236}">
                <a16:creationId xmlns:a16="http://schemas.microsoft.com/office/drawing/2014/main" id="{1439B802-1530-7A0E-FC05-1116F92C9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262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spcBef>
                <a:spcPts val="0"/>
              </a:spcBef>
              <a:buNone/>
              <a:defRPr sz="1100" b="0" i="0" u="none" strike="noStrike" cap="none">
                <a:solidFill>
                  <a:srgbClr val="00A6A7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59015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A6A7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sv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svg"/><Relationship Id="rId5" Type="http://schemas.microsoft.com/office/2007/relationships/hdphoto" Target="../media/hdphoto1.wdp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2317320" y="1926275"/>
            <a:ext cx="15868025" cy="59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5"/>
          <p:cNvSpPr txBox="1"/>
          <p:nvPr/>
        </p:nvSpPr>
        <p:spPr>
          <a:xfrm>
            <a:off x="574675" y="525139"/>
            <a:ext cx="81868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="1" dirty="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RSS</a:t>
            </a:r>
            <a:r>
              <a:rPr lang="ru-RU" sz="5400" b="1" dirty="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</a:t>
            </a:r>
            <a:r>
              <a:rPr lang="en" sz="5400" b="1" dirty="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Reader</a:t>
            </a:r>
            <a:endParaRPr dirty="0"/>
          </a:p>
        </p:txBody>
      </p:sp>
      <p:sp>
        <p:nvSpPr>
          <p:cNvPr id="300" name="Google Shape;300;p15"/>
          <p:cNvSpPr txBox="1"/>
          <p:nvPr/>
        </p:nvSpPr>
        <p:spPr>
          <a:xfrm>
            <a:off x="587380" y="2408479"/>
            <a:ext cx="444181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600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Web программирование и разработка ПО</a:t>
            </a:r>
            <a:endParaRPr dirty="0"/>
          </a:p>
        </p:txBody>
      </p:sp>
      <p:sp>
        <p:nvSpPr>
          <p:cNvPr id="302" name="Google Shape;302;p15"/>
          <p:cNvSpPr txBox="1"/>
          <p:nvPr/>
        </p:nvSpPr>
        <p:spPr>
          <a:xfrm>
            <a:off x="574674" y="3976209"/>
            <a:ext cx="350964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Докладчик</a:t>
            </a:r>
            <a:r>
              <a:rPr lang="en-US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ru-RU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Шишкина Яна Борисовна</a:t>
            </a:r>
            <a:endParaRPr sz="1400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574674" y="3502106"/>
            <a:ext cx="387540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400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Куратор</a:t>
            </a:r>
            <a:r>
              <a:rPr lang="en-US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ru-RU" dirty="0" err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Кирносенко</a:t>
            </a:r>
            <a:r>
              <a:rPr lang="ru-RU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Семён </a:t>
            </a:r>
            <a:r>
              <a:rPr lang="ru-RU" sz="1400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Игоревич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232833" y="346627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622750" y="626172"/>
            <a:ext cx="223475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Цель и задачи</a:t>
            </a:r>
            <a:endParaRPr dirty="0"/>
          </a:p>
        </p:txBody>
      </p:sp>
      <p:pic>
        <p:nvPicPr>
          <p:cNvPr id="310" name="Google Shape;31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8537" y="4482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 txBox="1"/>
          <p:nvPr/>
        </p:nvSpPr>
        <p:spPr>
          <a:xfrm>
            <a:off x="622750" y="1629359"/>
            <a:ext cx="7251250" cy="317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Цель – </a:t>
            </a:r>
            <a:r>
              <a:rPr lang="ru-RU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Создать удобное и современное веб-приложение для </a:t>
            </a:r>
            <a:r>
              <a:rPr lang="ru-RU" sz="140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управления </a:t>
            </a:r>
            <a:br>
              <a:rPr lang="ru-RU" sz="140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ru-RU" sz="140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и </a:t>
            </a:r>
            <a:r>
              <a:rPr lang="ru-RU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чтения новостных лент в формате RSS, позволяющее пользователям быстро получать актуальную информацию из различных источников в одном месте.</a:t>
            </a:r>
            <a:endParaRPr dirty="0"/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33333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33333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Поставленные задачи:</a:t>
            </a:r>
            <a:endParaRPr dirty="0"/>
          </a:p>
          <a:p>
            <a:pPr marL="12700" lvl="0">
              <a:lnSpc>
                <a:spcPct val="130000"/>
              </a:lnSpc>
            </a:pPr>
            <a:r>
              <a:rPr lang="en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  <a:r>
              <a:rPr lang="ru-RU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Реализовать добавление, редактирование и удаление RSS-лент.</a:t>
            </a:r>
            <a:endParaRPr dirty="0"/>
          </a:p>
          <a:p>
            <a:pPr marL="12700">
              <a:lnSpc>
                <a:spcPct val="130000"/>
              </a:lnSpc>
            </a:pP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r>
              <a:rPr lang="en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ru-RU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Обеспечить группировку лент по папкам</a:t>
            </a:r>
            <a:r>
              <a:rPr lang="en-US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для удобной </a:t>
            </a:r>
            <a:r>
              <a:rPr lang="ru-RU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организации </a:t>
            </a:r>
            <a:br>
              <a:rPr lang="ru-RU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ru-RU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и </a:t>
            </a: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структурирования информации.</a:t>
            </a:r>
            <a:endParaRPr dirty="0"/>
          </a:p>
          <a:p>
            <a:pPr marL="12700">
              <a:lnSpc>
                <a:spcPct val="130000"/>
              </a:lnSpc>
            </a:pP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r>
              <a:rPr lang="en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Создать интуитивно понятный, адаптивный интерфейс.</a:t>
            </a:r>
          </a:p>
          <a:p>
            <a:pPr marL="12700">
              <a:lnSpc>
                <a:spcPct val="130000"/>
              </a:lnSpc>
            </a:pP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4. Обеспечить быструю загрузку и обновление новостей.</a:t>
            </a:r>
          </a:p>
        </p:txBody>
      </p:sp>
      <p:sp>
        <p:nvSpPr>
          <p:cNvPr id="312" name="Google Shape;312;p16"/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EFEECB-29A2-4F4B-89B1-D268FBAFB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783" y="3235048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"/>
          <p:cNvSpPr/>
          <p:nvPr/>
        </p:nvSpPr>
        <p:spPr>
          <a:xfrm>
            <a:off x="232833" y="364211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622750" y="626172"/>
            <a:ext cx="508664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Выбор стека используемых технологий</a:t>
            </a:r>
            <a:endParaRPr/>
          </a:p>
        </p:txBody>
      </p:sp>
      <p:pic>
        <p:nvPicPr>
          <p:cNvPr id="328" name="Google Shape;32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8537" y="4482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8"/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11" name="Google Shape;249;p12">
            <a:extLst>
              <a:ext uri="{FF2B5EF4-FFF2-40B4-BE49-F238E27FC236}">
                <a16:creationId xmlns:a16="http://schemas.microsoft.com/office/drawing/2014/main" id="{777F90EA-8253-E190-C072-CDCE3BE5C23A}"/>
              </a:ext>
            </a:extLst>
          </p:cNvPr>
          <p:cNvSpPr/>
          <p:nvPr/>
        </p:nvSpPr>
        <p:spPr>
          <a:xfrm>
            <a:off x="863356" y="1702801"/>
            <a:ext cx="4699245" cy="827087"/>
          </a:xfrm>
          <a:prstGeom prst="roundRect">
            <a:avLst>
              <a:gd name="adj" fmla="val 27767"/>
            </a:avLst>
          </a:prstGeom>
          <a:solidFill>
            <a:srgbClr val="00A6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778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Backend</a:t>
            </a:r>
            <a:endParaRPr sz="14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" name="Google Shape;250;p12">
            <a:extLst>
              <a:ext uri="{FF2B5EF4-FFF2-40B4-BE49-F238E27FC236}">
                <a16:creationId xmlns:a16="http://schemas.microsoft.com/office/drawing/2014/main" id="{F222D61D-FE7D-45A4-42CF-C5437B594F23}"/>
              </a:ext>
            </a:extLst>
          </p:cNvPr>
          <p:cNvSpPr/>
          <p:nvPr/>
        </p:nvSpPr>
        <p:spPr>
          <a:xfrm>
            <a:off x="6629400" y="1702801"/>
            <a:ext cx="4699245" cy="827087"/>
          </a:xfrm>
          <a:prstGeom prst="roundRect">
            <a:avLst>
              <a:gd name="adj" fmla="val 27767"/>
            </a:avLst>
          </a:prstGeom>
          <a:solidFill>
            <a:srgbClr val="00A6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177800" algn="ctr"/>
            <a:r>
              <a:rPr lang="ru-RU" dirty="0" err="1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Frontend</a:t>
            </a:r>
            <a:endParaRPr sz="14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" name="Picture 2" descr="Picture background">
            <a:extLst>
              <a:ext uri="{FF2B5EF4-FFF2-40B4-BE49-F238E27FC236}">
                <a16:creationId xmlns:a16="http://schemas.microsoft.com/office/drawing/2014/main" id="{D14BCEAD-0EDC-CC92-AAB1-47344AF789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6" t="19902" r="14435" b="22252"/>
          <a:stretch>
            <a:fillRect/>
          </a:stretch>
        </p:blipFill>
        <p:spPr bwMode="auto">
          <a:xfrm>
            <a:off x="1395558" y="4708601"/>
            <a:ext cx="1482968" cy="122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Picture background">
            <a:extLst>
              <a:ext uri="{FF2B5EF4-FFF2-40B4-BE49-F238E27FC236}">
                <a16:creationId xmlns:a16="http://schemas.microsoft.com/office/drawing/2014/main" id="{83D049C0-7446-D65F-6BF6-E7959E166C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4" t="19098" r="16642" b="13740"/>
          <a:stretch>
            <a:fillRect/>
          </a:stretch>
        </p:blipFill>
        <p:spPr bwMode="auto">
          <a:xfrm>
            <a:off x="3257920" y="4693628"/>
            <a:ext cx="1723432" cy="12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8078B9-CCD3-D7B3-26E1-9B00E102F9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4052" y="3029794"/>
            <a:ext cx="1153946" cy="12983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D1B3AD-8B48-A729-0864-2E7EBB3E94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3847" y="2842750"/>
            <a:ext cx="1571553" cy="157155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C01F8DC-C1B8-65EE-3FB2-1BA54682AD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5891" t="4131" r="16186" b="4432"/>
          <a:stretch>
            <a:fillRect/>
          </a:stretch>
        </p:blipFill>
        <p:spPr>
          <a:xfrm>
            <a:off x="9224962" y="2771277"/>
            <a:ext cx="1273575" cy="17145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3E2103E-0D80-076A-D450-573EB7DEBC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3847" y="4673857"/>
            <a:ext cx="1573721" cy="129832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5CF720B-C0AE-299D-A909-06FE9938DCF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9711" r="30337"/>
          <a:stretch>
            <a:fillRect/>
          </a:stretch>
        </p:blipFill>
        <p:spPr>
          <a:xfrm>
            <a:off x="9296962" y="4527830"/>
            <a:ext cx="1129573" cy="159037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3369CB2-4636-94FC-DA53-398D845970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65432" y="3186916"/>
            <a:ext cx="2055490" cy="11411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212">
          <a:extLst>
            <a:ext uri="{FF2B5EF4-FFF2-40B4-BE49-F238E27FC236}">
              <a16:creationId xmlns:a16="http://schemas.microsoft.com/office/drawing/2014/main" id="{EAC5D05C-8BEA-7759-82C2-1EE245C9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8;p16">
            <a:extLst>
              <a:ext uri="{FF2B5EF4-FFF2-40B4-BE49-F238E27FC236}">
                <a16:creationId xmlns:a16="http://schemas.microsoft.com/office/drawing/2014/main" id="{60E04005-1158-60FC-C361-EE9F92ED3DFA}"/>
              </a:ext>
            </a:extLst>
          </p:cNvPr>
          <p:cNvSpPr/>
          <p:nvPr/>
        </p:nvSpPr>
        <p:spPr>
          <a:xfrm>
            <a:off x="232833" y="346627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>
            <a:extLst>
              <a:ext uri="{FF2B5EF4-FFF2-40B4-BE49-F238E27FC236}">
                <a16:creationId xmlns:a16="http://schemas.microsoft.com/office/drawing/2014/main" id="{365F697B-3E8D-C758-A871-6C33C244702B}"/>
              </a:ext>
            </a:extLst>
          </p:cNvPr>
          <p:cNvSpPr txBox="1"/>
          <p:nvPr/>
        </p:nvSpPr>
        <p:spPr>
          <a:xfrm>
            <a:off x="508450" y="537272"/>
            <a:ext cx="287483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Реализация проекта</a:t>
            </a:r>
            <a:endParaRPr dirty="0">
              <a:solidFill>
                <a:srgbClr val="024869"/>
              </a:solidFill>
            </a:endParaRPr>
          </a:p>
        </p:txBody>
      </p:sp>
      <p:pic>
        <p:nvPicPr>
          <p:cNvPr id="214" name="Google Shape;214;p9">
            <a:extLst>
              <a:ext uri="{FF2B5EF4-FFF2-40B4-BE49-F238E27FC236}">
                <a16:creationId xmlns:a16="http://schemas.microsoft.com/office/drawing/2014/main" id="{DF013FDE-2BA6-77A9-926B-695A32D00C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1237" y="3593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>
            <a:extLst>
              <a:ext uri="{FF2B5EF4-FFF2-40B4-BE49-F238E27FC236}">
                <a16:creationId xmlns:a16="http://schemas.microsoft.com/office/drawing/2014/main" id="{D34D43D7-BEA2-2811-8328-0803E6FB4A5D}"/>
              </a:ext>
            </a:extLst>
          </p:cNvPr>
          <p:cNvSpPr txBox="1"/>
          <p:nvPr/>
        </p:nvSpPr>
        <p:spPr>
          <a:xfrm>
            <a:off x="6198130" y="1700213"/>
            <a:ext cx="4088870" cy="4293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На главной странице отображаются статьи из добавленных пользователем RSS-лент </a:t>
            </a:r>
            <a:b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в виде аккуратных карточек.</a:t>
            </a:r>
            <a:b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lang="ru-RU" sz="1400" dirty="0">
              <a:solidFill>
                <a:srgbClr val="02486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Обновление происходит раз в 30 минут. </a:t>
            </a: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rgbClr val="02486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На странице доступны фильтры по дате публикации новостей, наличию изображений </a:t>
            </a:r>
            <a:b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и сортировка по различным параметрам</a:t>
            </a: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rgbClr val="02486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Внизу страницы присутствует пагинация </a:t>
            </a:r>
            <a:b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с возможностью выбора количества лент </a:t>
            </a:r>
            <a:b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  <a:t>на странице.</a:t>
            </a:r>
            <a:br>
              <a:rPr lang="ru-RU" sz="1400" dirty="0">
                <a:solidFill>
                  <a:srgbClr val="024869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lang="ru-RU" sz="1400" dirty="0">
              <a:solidFill>
                <a:srgbClr val="02486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6" name="Google Shape;216;p9">
            <a:extLst>
              <a:ext uri="{FF2B5EF4-FFF2-40B4-BE49-F238E27FC236}">
                <a16:creationId xmlns:a16="http://schemas.microsoft.com/office/drawing/2014/main" id="{BF2D3469-C7CF-4370-EF76-48A100650702}"/>
              </a:ext>
            </a:extLst>
          </p:cNvPr>
          <p:cNvSpPr/>
          <p:nvPr/>
        </p:nvSpPr>
        <p:spPr>
          <a:xfrm>
            <a:off x="587375" y="1700213"/>
            <a:ext cx="5256213" cy="4213225"/>
          </a:xfrm>
          <a:prstGeom prst="roundRect">
            <a:avLst>
              <a:gd name="adj" fmla="val 7491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9">
            <a:extLst>
              <a:ext uri="{FF2B5EF4-FFF2-40B4-BE49-F238E27FC236}">
                <a16:creationId xmlns:a16="http://schemas.microsoft.com/office/drawing/2014/main" id="{9849F6AF-8985-CC4E-9602-4C13AD1021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18" name="Google Shape;218;p9">
            <a:extLst>
              <a:ext uri="{FF2B5EF4-FFF2-40B4-BE49-F238E27FC236}">
                <a16:creationId xmlns:a16="http://schemas.microsoft.com/office/drawing/2014/main" id="{99D52054-107F-2ADB-E8B2-F9D1AAC4C5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78725" y="5713908"/>
            <a:ext cx="13520848" cy="279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102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212">
          <a:extLst>
            <a:ext uri="{FF2B5EF4-FFF2-40B4-BE49-F238E27FC236}">
              <a16:creationId xmlns:a16="http://schemas.microsoft.com/office/drawing/2014/main" id="{F10C441B-ECD7-AB5E-4F8C-76E9C624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8;p16">
            <a:extLst>
              <a:ext uri="{FF2B5EF4-FFF2-40B4-BE49-F238E27FC236}">
                <a16:creationId xmlns:a16="http://schemas.microsoft.com/office/drawing/2014/main" id="{D8CE472F-5BCB-65A9-FE92-EAA4C8EA9D6E}"/>
              </a:ext>
            </a:extLst>
          </p:cNvPr>
          <p:cNvSpPr/>
          <p:nvPr/>
        </p:nvSpPr>
        <p:spPr>
          <a:xfrm>
            <a:off x="232833" y="346627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9">
            <a:extLst>
              <a:ext uri="{FF2B5EF4-FFF2-40B4-BE49-F238E27FC236}">
                <a16:creationId xmlns:a16="http://schemas.microsoft.com/office/drawing/2014/main" id="{EC735834-02B2-D0AF-42EE-FD8733D56D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1237" y="3593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>
            <a:extLst>
              <a:ext uri="{FF2B5EF4-FFF2-40B4-BE49-F238E27FC236}">
                <a16:creationId xmlns:a16="http://schemas.microsoft.com/office/drawing/2014/main" id="{F8BE9152-E6DD-3424-3231-043822CF90B8}"/>
              </a:ext>
            </a:extLst>
          </p:cNvPr>
          <p:cNvSpPr/>
          <p:nvPr/>
        </p:nvSpPr>
        <p:spPr>
          <a:xfrm>
            <a:off x="1760855" y="1500683"/>
            <a:ext cx="5256213" cy="4213225"/>
          </a:xfrm>
          <a:prstGeom prst="roundRect">
            <a:avLst>
              <a:gd name="adj" fmla="val 7491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9">
            <a:extLst>
              <a:ext uri="{FF2B5EF4-FFF2-40B4-BE49-F238E27FC236}">
                <a16:creationId xmlns:a16="http://schemas.microsoft.com/office/drawing/2014/main" id="{BA69D42E-4DB4-9846-296F-FE39F55A21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218" name="Google Shape;218;p9">
            <a:extLst>
              <a:ext uri="{FF2B5EF4-FFF2-40B4-BE49-F238E27FC236}">
                <a16:creationId xmlns:a16="http://schemas.microsoft.com/office/drawing/2014/main" id="{A4528C42-5487-8F93-3F0A-8458252A187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78725" y="5713908"/>
            <a:ext cx="13520848" cy="27983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8;p10">
            <a:extLst>
              <a:ext uri="{FF2B5EF4-FFF2-40B4-BE49-F238E27FC236}">
                <a16:creationId xmlns:a16="http://schemas.microsoft.com/office/drawing/2014/main" id="{4B72B2C3-158E-762B-1EA4-6C4701286441}"/>
              </a:ext>
            </a:extLst>
          </p:cNvPr>
          <p:cNvSpPr/>
          <p:nvPr/>
        </p:nvSpPr>
        <p:spPr>
          <a:xfrm>
            <a:off x="7269480" y="1500682"/>
            <a:ext cx="2338387" cy="4213225"/>
          </a:xfrm>
          <a:prstGeom prst="roundRect">
            <a:avLst>
              <a:gd name="adj" fmla="val 7491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" name="Google Shape;213;p9">
            <a:extLst>
              <a:ext uri="{FF2B5EF4-FFF2-40B4-BE49-F238E27FC236}">
                <a16:creationId xmlns:a16="http://schemas.microsoft.com/office/drawing/2014/main" id="{90C7DE38-8FF6-BBFD-4261-B54FBD0809EC}"/>
              </a:ext>
            </a:extLst>
          </p:cNvPr>
          <p:cNvSpPr txBox="1"/>
          <p:nvPr/>
        </p:nvSpPr>
        <p:spPr>
          <a:xfrm>
            <a:off x="508450" y="537272"/>
            <a:ext cx="287483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Реализация проекта</a:t>
            </a:r>
            <a:endParaRPr dirty="0">
              <a:solidFill>
                <a:srgbClr val="0248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62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212">
          <a:extLst>
            <a:ext uri="{FF2B5EF4-FFF2-40B4-BE49-F238E27FC236}">
              <a16:creationId xmlns:a16="http://schemas.microsoft.com/office/drawing/2014/main" id="{8ADDE27E-AB36-8541-86E9-12D7D35F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8;p16">
            <a:extLst>
              <a:ext uri="{FF2B5EF4-FFF2-40B4-BE49-F238E27FC236}">
                <a16:creationId xmlns:a16="http://schemas.microsoft.com/office/drawing/2014/main" id="{CC293A63-5C71-9A27-8C19-D05D14894039}"/>
              </a:ext>
            </a:extLst>
          </p:cNvPr>
          <p:cNvSpPr/>
          <p:nvPr/>
        </p:nvSpPr>
        <p:spPr>
          <a:xfrm>
            <a:off x="232833" y="346627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9">
            <a:extLst>
              <a:ext uri="{FF2B5EF4-FFF2-40B4-BE49-F238E27FC236}">
                <a16:creationId xmlns:a16="http://schemas.microsoft.com/office/drawing/2014/main" id="{4E8A7EDE-D272-5EE9-F03D-5D096F6A3C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1237" y="3593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>
            <a:extLst>
              <a:ext uri="{FF2B5EF4-FFF2-40B4-BE49-F238E27FC236}">
                <a16:creationId xmlns:a16="http://schemas.microsoft.com/office/drawing/2014/main" id="{531B8686-3749-E336-6882-900D39372E1B}"/>
              </a:ext>
            </a:extLst>
          </p:cNvPr>
          <p:cNvSpPr/>
          <p:nvPr/>
        </p:nvSpPr>
        <p:spPr>
          <a:xfrm>
            <a:off x="1760855" y="1500683"/>
            <a:ext cx="5256213" cy="4213225"/>
          </a:xfrm>
          <a:prstGeom prst="roundRect">
            <a:avLst>
              <a:gd name="adj" fmla="val 7491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9">
            <a:extLst>
              <a:ext uri="{FF2B5EF4-FFF2-40B4-BE49-F238E27FC236}">
                <a16:creationId xmlns:a16="http://schemas.microsoft.com/office/drawing/2014/main" id="{36076D39-FDCA-6D60-2305-5DD3B9F639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18" name="Google Shape;218;p9">
            <a:extLst>
              <a:ext uri="{FF2B5EF4-FFF2-40B4-BE49-F238E27FC236}">
                <a16:creationId xmlns:a16="http://schemas.microsoft.com/office/drawing/2014/main" id="{00A568BC-9240-D566-A73F-8FD53BE1BC0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78725" y="5713908"/>
            <a:ext cx="13520848" cy="279837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3;p9">
            <a:extLst>
              <a:ext uri="{FF2B5EF4-FFF2-40B4-BE49-F238E27FC236}">
                <a16:creationId xmlns:a16="http://schemas.microsoft.com/office/drawing/2014/main" id="{FB02073F-1AD9-8736-836D-9EEA92B0E9CB}"/>
              </a:ext>
            </a:extLst>
          </p:cNvPr>
          <p:cNvSpPr txBox="1"/>
          <p:nvPr/>
        </p:nvSpPr>
        <p:spPr>
          <a:xfrm>
            <a:off x="508450" y="537272"/>
            <a:ext cx="287483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Реализация проекта</a:t>
            </a:r>
            <a:endParaRPr dirty="0">
              <a:solidFill>
                <a:srgbClr val="024869"/>
              </a:solidFill>
            </a:endParaRPr>
          </a:p>
        </p:txBody>
      </p:sp>
      <p:sp>
        <p:nvSpPr>
          <p:cNvPr id="3" name="Google Shape;216;p9">
            <a:extLst>
              <a:ext uri="{FF2B5EF4-FFF2-40B4-BE49-F238E27FC236}">
                <a16:creationId xmlns:a16="http://schemas.microsoft.com/office/drawing/2014/main" id="{FC476EB5-02C6-3F40-39CE-5397C754CF11}"/>
              </a:ext>
            </a:extLst>
          </p:cNvPr>
          <p:cNvSpPr/>
          <p:nvPr/>
        </p:nvSpPr>
        <p:spPr>
          <a:xfrm>
            <a:off x="7628572" y="1283700"/>
            <a:ext cx="2658428" cy="2130917"/>
          </a:xfrm>
          <a:prstGeom prst="roundRect">
            <a:avLst>
              <a:gd name="adj" fmla="val 7491"/>
            </a:avLst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" name="Google Shape;216;p9">
            <a:extLst>
              <a:ext uri="{FF2B5EF4-FFF2-40B4-BE49-F238E27FC236}">
                <a16:creationId xmlns:a16="http://schemas.microsoft.com/office/drawing/2014/main" id="{AAE79414-063E-C60F-DCA8-A9CC5EB089DF}"/>
              </a:ext>
            </a:extLst>
          </p:cNvPr>
          <p:cNvSpPr/>
          <p:nvPr/>
        </p:nvSpPr>
        <p:spPr>
          <a:xfrm>
            <a:off x="7586186" y="3841902"/>
            <a:ext cx="2658428" cy="2130917"/>
          </a:xfrm>
          <a:prstGeom prst="roundRect">
            <a:avLst>
              <a:gd name="adj" fmla="val 7491"/>
            </a:avLst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303325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212">
          <a:extLst>
            <a:ext uri="{FF2B5EF4-FFF2-40B4-BE49-F238E27FC236}">
              <a16:creationId xmlns:a16="http://schemas.microsoft.com/office/drawing/2014/main" id="{769B22B4-17FE-A013-EC87-03FBB063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8;p16">
            <a:extLst>
              <a:ext uri="{FF2B5EF4-FFF2-40B4-BE49-F238E27FC236}">
                <a16:creationId xmlns:a16="http://schemas.microsoft.com/office/drawing/2014/main" id="{9D98A1C6-BC72-A511-7221-F2BA813B7436}"/>
              </a:ext>
            </a:extLst>
          </p:cNvPr>
          <p:cNvSpPr/>
          <p:nvPr/>
        </p:nvSpPr>
        <p:spPr>
          <a:xfrm>
            <a:off x="232833" y="346627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9">
            <a:extLst>
              <a:ext uri="{FF2B5EF4-FFF2-40B4-BE49-F238E27FC236}">
                <a16:creationId xmlns:a16="http://schemas.microsoft.com/office/drawing/2014/main" id="{F4E8A33A-D0BA-9841-1DAB-4985C4FCE0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1237" y="3593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>
            <a:extLst>
              <a:ext uri="{FF2B5EF4-FFF2-40B4-BE49-F238E27FC236}">
                <a16:creationId xmlns:a16="http://schemas.microsoft.com/office/drawing/2014/main" id="{64A63D8A-ACDB-8678-8187-123270889A97}"/>
              </a:ext>
            </a:extLst>
          </p:cNvPr>
          <p:cNvSpPr/>
          <p:nvPr/>
        </p:nvSpPr>
        <p:spPr>
          <a:xfrm>
            <a:off x="508450" y="1500683"/>
            <a:ext cx="5256213" cy="4213225"/>
          </a:xfrm>
          <a:prstGeom prst="roundRect">
            <a:avLst>
              <a:gd name="adj" fmla="val 7491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9">
            <a:extLst>
              <a:ext uri="{FF2B5EF4-FFF2-40B4-BE49-F238E27FC236}">
                <a16:creationId xmlns:a16="http://schemas.microsoft.com/office/drawing/2014/main" id="{1FA94688-D7CB-7712-B998-4F591955B8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218" name="Google Shape;218;p9">
            <a:extLst>
              <a:ext uri="{FF2B5EF4-FFF2-40B4-BE49-F238E27FC236}">
                <a16:creationId xmlns:a16="http://schemas.microsoft.com/office/drawing/2014/main" id="{40EAA47D-C2F7-5B09-4B8F-04526805855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78725" y="5713908"/>
            <a:ext cx="13520848" cy="279837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3;p9">
            <a:extLst>
              <a:ext uri="{FF2B5EF4-FFF2-40B4-BE49-F238E27FC236}">
                <a16:creationId xmlns:a16="http://schemas.microsoft.com/office/drawing/2014/main" id="{FD59CEA9-6E84-D2A6-A3EA-9860C6E5F8F9}"/>
              </a:ext>
            </a:extLst>
          </p:cNvPr>
          <p:cNvSpPr txBox="1"/>
          <p:nvPr/>
        </p:nvSpPr>
        <p:spPr>
          <a:xfrm>
            <a:off x="508450" y="537272"/>
            <a:ext cx="287483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Реализация проекта</a:t>
            </a:r>
            <a:endParaRPr dirty="0">
              <a:solidFill>
                <a:srgbClr val="024869"/>
              </a:solidFill>
            </a:endParaRPr>
          </a:p>
        </p:txBody>
      </p:sp>
      <p:sp>
        <p:nvSpPr>
          <p:cNvPr id="2" name="Google Shape;216;p9">
            <a:extLst>
              <a:ext uri="{FF2B5EF4-FFF2-40B4-BE49-F238E27FC236}">
                <a16:creationId xmlns:a16="http://schemas.microsoft.com/office/drawing/2014/main" id="{88613501-8F64-2028-EDBA-8F64DCBC6FDA}"/>
              </a:ext>
            </a:extLst>
          </p:cNvPr>
          <p:cNvSpPr/>
          <p:nvPr/>
        </p:nvSpPr>
        <p:spPr>
          <a:xfrm>
            <a:off x="6096000" y="1500683"/>
            <a:ext cx="5256213" cy="4213225"/>
          </a:xfrm>
          <a:prstGeom prst="roundRect">
            <a:avLst>
              <a:gd name="adj" fmla="val 7491"/>
            </a:avLst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03632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212">
          <a:extLst>
            <a:ext uri="{FF2B5EF4-FFF2-40B4-BE49-F238E27FC236}">
              <a16:creationId xmlns:a16="http://schemas.microsoft.com/office/drawing/2014/main" id="{DE53D156-B5E5-2DE5-D163-8DFD6223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8;p16">
            <a:extLst>
              <a:ext uri="{FF2B5EF4-FFF2-40B4-BE49-F238E27FC236}">
                <a16:creationId xmlns:a16="http://schemas.microsoft.com/office/drawing/2014/main" id="{385820FD-5D91-548D-5D0E-CDCBEE05386E}"/>
              </a:ext>
            </a:extLst>
          </p:cNvPr>
          <p:cNvSpPr/>
          <p:nvPr/>
        </p:nvSpPr>
        <p:spPr>
          <a:xfrm>
            <a:off x="232833" y="346627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9">
            <a:extLst>
              <a:ext uri="{FF2B5EF4-FFF2-40B4-BE49-F238E27FC236}">
                <a16:creationId xmlns:a16="http://schemas.microsoft.com/office/drawing/2014/main" id="{72245CD9-84D6-98B1-FE2D-F24FB15311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1237" y="3593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>
            <a:extLst>
              <a:ext uri="{FF2B5EF4-FFF2-40B4-BE49-F238E27FC236}">
                <a16:creationId xmlns:a16="http://schemas.microsoft.com/office/drawing/2014/main" id="{19325D58-F332-F95A-7D5B-0EBC3AE1775A}"/>
              </a:ext>
            </a:extLst>
          </p:cNvPr>
          <p:cNvSpPr/>
          <p:nvPr/>
        </p:nvSpPr>
        <p:spPr>
          <a:xfrm>
            <a:off x="508450" y="1500683"/>
            <a:ext cx="5256213" cy="4213225"/>
          </a:xfrm>
          <a:prstGeom prst="roundRect">
            <a:avLst>
              <a:gd name="adj" fmla="val 7491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C0C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9">
            <a:extLst>
              <a:ext uri="{FF2B5EF4-FFF2-40B4-BE49-F238E27FC236}">
                <a16:creationId xmlns:a16="http://schemas.microsoft.com/office/drawing/2014/main" id="{901BDE09-39BF-5618-718C-23BC0895C5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218" name="Google Shape;218;p9">
            <a:extLst>
              <a:ext uri="{FF2B5EF4-FFF2-40B4-BE49-F238E27FC236}">
                <a16:creationId xmlns:a16="http://schemas.microsoft.com/office/drawing/2014/main" id="{2250A2E9-31D2-324F-BF22-387A79CED90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78725" y="5713908"/>
            <a:ext cx="13520848" cy="279837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3;p9">
            <a:extLst>
              <a:ext uri="{FF2B5EF4-FFF2-40B4-BE49-F238E27FC236}">
                <a16:creationId xmlns:a16="http://schemas.microsoft.com/office/drawing/2014/main" id="{A99988F8-6396-D920-26AA-7AA7DD632F02}"/>
              </a:ext>
            </a:extLst>
          </p:cNvPr>
          <p:cNvSpPr txBox="1"/>
          <p:nvPr/>
        </p:nvSpPr>
        <p:spPr>
          <a:xfrm>
            <a:off x="508450" y="537272"/>
            <a:ext cx="287483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Реализация проекта</a:t>
            </a:r>
            <a:endParaRPr dirty="0">
              <a:solidFill>
                <a:srgbClr val="024869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377C08-3D10-E60F-4E70-A0B88B75C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845586"/>
            <a:ext cx="4782217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9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"/>
          <p:cNvSpPr/>
          <p:nvPr/>
        </p:nvSpPr>
        <p:spPr>
          <a:xfrm>
            <a:off x="232833" y="346627"/>
            <a:ext cx="11726333" cy="7309156"/>
          </a:xfrm>
          <a:prstGeom prst="roundRect">
            <a:avLst>
              <a:gd name="adj" fmla="val 285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622750" y="626172"/>
            <a:ext cx="335137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Полученный результат</a:t>
            </a:r>
            <a:r>
              <a:rPr lang="ru-RU" sz="2000" b="1" dirty="0">
                <a:solidFill>
                  <a:srgbClr val="024869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и дальнейшее развитие</a:t>
            </a:r>
            <a:endParaRPr dirty="0"/>
          </a:p>
        </p:txBody>
      </p:sp>
      <p:pic>
        <p:nvPicPr>
          <p:cNvPr id="346" name="Google Shape;34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8537" y="448227"/>
            <a:ext cx="1190000" cy="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0"/>
          <p:cNvSpPr txBox="1"/>
          <p:nvPr/>
        </p:nvSpPr>
        <p:spPr>
          <a:xfrm>
            <a:off x="622750" y="1629359"/>
            <a:ext cx="7251250" cy="149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Проект RSS-Reader успешно реализован как полнофункциональный веб-сервис для работы с RSS-лентами. Все запланированные возможности были воплощены в жизнь.</a:t>
            </a: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rgbClr val="33333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7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333333"/>
                </a:solidFill>
                <a:latin typeface="Raleway"/>
                <a:ea typeface="Raleway"/>
                <a:cs typeface="Raleway"/>
                <a:sym typeface="Raleway"/>
              </a:rPr>
              <a:t>Возможные пути для дальнейшего развития </a:t>
            </a:r>
          </a:p>
        </p:txBody>
      </p:sp>
      <p:sp>
        <p:nvSpPr>
          <p:cNvPr id="348" name="Google Shape;348;p20"/>
          <p:cNvSpPr txBox="1">
            <a:spLocks noGrp="1"/>
          </p:cNvSpPr>
          <p:nvPr>
            <p:ph type="sldNum" idx="12"/>
          </p:nvPr>
        </p:nvSpPr>
        <p:spPr>
          <a:xfrm>
            <a:off x="8915400" y="62317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Google Shape;249;p12">
            <a:extLst>
              <a:ext uri="{FF2B5EF4-FFF2-40B4-BE49-F238E27FC236}">
                <a16:creationId xmlns:a16="http://schemas.microsoft.com/office/drawing/2014/main" id="{96E39D7A-5C92-C9AA-562A-C6BD3E13CCEC}"/>
              </a:ext>
            </a:extLst>
          </p:cNvPr>
          <p:cNvSpPr/>
          <p:nvPr/>
        </p:nvSpPr>
        <p:spPr>
          <a:xfrm>
            <a:off x="622750" y="3697453"/>
            <a:ext cx="4699245" cy="408555"/>
          </a:xfrm>
          <a:prstGeom prst="roundRect">
            <a:avLst>
              <a:gd name="adj" fmla="val 27767"/>
            </a:avLst>
          </a:prstGeom>
          <a:solidFill>
            <a:srgbClr val="00A6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778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Добавление поддержки различных соцсетей</a:t>
            </a:r>
            <a:endParaRPr sz="14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ACA9B544-48AF-63CB-02D2-DD0AC0F90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35" b="94509" l="25938" r="7742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269" t="7477" r="26875" b="9048"/>
          <a:stretch>
            <a:fillRect/>
          </a:stretch>
        </p:blipFill>
        <p:spPr bwMode="auto">
          <a:xfrm>
            <a:off x="924340" y="4441987"/>
            <a:ext cx="1350132" cy="13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E686C83E-28DB-03FB-88A6-AD52AF3C5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06" t="14615" r="32102" b="14308"/>
          <a:stretch>
            <a:fillRect/>
          </a:stretch>
        </p:blipFill>
        <p:spPr bwMode="auto">
          <a:xfrm>
            <a:off x="3163198" y="4441987"/>
            <a:ext cx="1364222" cy="13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D63555B8-2599-EEB7-5576-CB90BD0502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7" t="54872" r="20684" b="22051"/>
          <a:stretch>
            <a:fillRect/>
          </a:stretch>
        </p:blipFill>
        <p:spPr bwMode="auto">
          <a:xfrm>
            <a:off x="6461500" y="5015697"/>
            <a:ext cx="1233573" cy="48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84DDD8C2-C46D-D6FC-6FCB-0DCB06CC8A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8000" b="50375" l="16375" r="91250">
                        <a14:foregroundMark x1="26500" y1="28625" x2="74250" y2="34375"/>
                        <a14:foregroundMark x1="24125" y1="26625" x2="29000" y2="21875"/>
                        <a14:foregroundMark x1="27000" y1="23750" x2="35250" y2="22375"/>
                        <a14:foregroundMark x1="46375" y1="22875" x2="46375" y2="22875"/>
                        <a14:foregroundMark x1="46375" y1="22875" x2="31375" y2="23750"/>
                        <a14:foregroundMark x1="46750" y1="22375" x2="68500" y2="23250"/>
                        <a14:foregroundMark x1="68500" y1="23250" x2="74750" y2="27125"/>
                        <a14:foregroundMark x1="76250" y1="27125" x2="76750" y2="36375"/>
                        <a14:foregroundMark x1="77250" y1="36750" x2="74750" y2="41625"/>
                        <a14:foregroundMark x1="74750" y1="42625" x2="68000" y2="46500"/>
                        <a14:foregroundMark x1="69500" y1="46500" x2="34250" y2="46000"/>
                        <a14:foregroundMark x1="35750" y1="46000" x2="27000" y2="42625"/>
                        <a14:foregroundMark x1="27000" y1="42625" x2="23625" y2="40125"/>
                      </a14:backgroundRemoval>
                    </a14:imgEffect>
                    <a14:imgEffect>
                      <a14:colorTemperature colorTemp="4448"/>
                    </a14:imgEffect>
                    <a14:imgEffect>
                      <a14:saturation sat="37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727" t="22051" r="20684" b="54872"/>
          <a:stretch>
            <a:fillRect/>
          </a:stretch>
        </p:blipFill>
        <p:spPr bwMode="auto">
          <a:xfrm>
            <a:off x="6461499" y="4468194"/>
            <a:ext cx="1233573" cy="48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249;p12">
            <a:extLst>
              <a:ext uri="{FF2B5EF4-FFF2-40B4-BE49-F238E27FC236}">
                <a16:creationId xmlns:a16="http://schemas.microsoft.com/office/drawing/2014/main" id="{9063B1A9-3D89-09D9-08AB-4EACB925710B}"/>
              </a:ext>
            </a:extLst>
          </p:cNvPr>
          <p:cNvSpPr/>
          <p:nvPr/>
        </p:nvSpPr>
        <p:spPr>
          <a:xfrm>
            <a:off x="5711913" y="3697452"/>
            <a:ext cx="2605610" cy="408555"/>
          </a:xfrm>
          <a:prstGeom prst="roundRect">
            <a:avLst>
              <a:gd name="adj" fmla="val 27767"/>
            </a:avLst>
          </a:prstGeom>
          <a:solidFill>
            <a:srgbClr val="00A6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778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Улучшение пользовательского опыта</a:t>
            </a:r>
            <a:endParaRPr sz="14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D24295-7B86-6B08-7647-A756BC9E48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948" y="4398004"/>
            <a:ext cx="1246929" cy="1246929"/>
          </a:xfrm>
          <a:prstGeom prst="rect">
            <a:avLst/>
          </a:prstGeom>
        </p:spPr>
      </p:pic>
      <p:sp>
        <p:nvSpPr>
          <p:cNvPr id="9" name="Google Shape;249;p12">
            <a:extLst>
              <a:ext uri="{FF2B5EF4-FFF2-40B4-BE49-F238E27FC236}">
                <a16:creationId xmlns:a16="http://schemas.microsoft.com/office/drawing/2014/main" id="{90DAA373-4445-DBE8-C2EB-87521BE7E675}"/>
              </a:ext>
            </a:extLst>
          </p:cNvPr>
          <p:cNvSpPr/>
          <p:nvPr/>
        </p:nvSpPr>
        <p:spPr>
          <a:xfrm>
            <a:off x="8835539" y="3697452"/>
            <a:ext cx="2605610" cy="408555"/>
          </a:xfrm>
          <a:prstGeom prst="roundRect">
            <a:avLst>
              <a:gd name="adj" fmla="val 27767"/>
            </a:avLst>
          </a:prstGeom>
          <a:solidFill>
            <a:srgbClr val="00A6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1778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bg1"/>
                </a:solidFill>
                <a:latin typeface="Raleway"/>
                <a:ea typeface="Raleway"/>
                <a:cs typeface="Raleway"/>
                <a:sym typeface="Raleway"/>
              </a:rPr>
              <a:t>Уход от локальности </a:t>
            </a:r>
            <a:endParaRPr sz="1400" dirty="0">
              <a:solidFill>
                <a:schemeClr val="bg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A7"/>
            </a:gs>
            <a:gs pos="100000">
              <a:srgbClr val="024869"/>
            </a:gs>
          </a:gsLst>
          <a:lin ang="5400000" scaled="0"/>
        </a:gra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E70AEAEB-5217-B33D-F428-7AAF2F02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5">
            <a:extLst>
              <a:ext uri="{FF2B5EF4-FFF2-40B4-BE49-F238E27FC236}">
                <a16:creationId xmlns:a16="http://schemas.microsoft.com/office/drawing/2014/main" id="{C12FB6D2-5639-AD07-407A-4F89C0FB01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2317320" y="1926275"/>
            <a:ext cx="15868025" cy="59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5">
            <a:extLst>
              <a:ext uri="{FF2B5EF4-FFF2-40B4-BE49-F238E27FC236}">
                <a16:creationId xmlns:a16="http://schemas.microsoft.com/office/drawing/2014/main" id="{AF3D89CD-55A1-0CA8-386B-33CD0F696A9C}"/>
              </a:ext>
            </a:extLst>
          </p:cNvPr>
          <p:cNvSpPr txBox="1"/>
          <p:nvPr/>
        </p:nvSpPr>
        <p:spPr>
          <a:xfrm>
            <a:off x="574675" y="525139"/>
            <a:ext cx="81868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="1" dirty="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RSS</a:t>
            </a:r>
            <a:r>
              <a:rPr lang="en-US" sz="5400" b="1" dirty="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</a:t>
            </a:r>
            <a:r>
              <a:rPr lang="en" sz="5400" b="1" dirty="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Reader</a:t>
            </a:r>
            <a:endParaRPr dirty="0"/>
          </a:p>
        </p:txBody>
      </p:sp>
      <p:sp>
        <p:nvSpPr>
          <p:cNvPr id="300" name="Google Shape;300;p15">
            <a:extLst>
              <a:ext uri="{FF2B5EF4-FFF2-40B4-BE49-F238E27FC236}">
                <a16:creationId xmlns:a16="http://schemas.microsoft.com/office/drawing/2014/main" id="{7DD5FB7A-B9E3-DE76-32EE-F668FAD06C0D}"/>
              </a:ext>
            </a:extLst>
          </p:cNvPr>
          <p:cNvSpPr txBox="1"/>
          <p:nvPr/>
        </p:nvSpPr>
        <p:spPr>
          <a:xfrm>
            <a:off x="587380" y="2408479"/>
            <a:ext cx="44418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600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Направление</a:t>
            </a:r>
            <a:r>
              <a:rPr lang="en-US" sz="1600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ru-RU" sz="1600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Web программирование и разработка ПО</a:t>
            </a:r>
            <a:endParaRPr dirty="0"/>
          </a:p>
        </p:txBody>
      </p:sp>
      <p:sp>
        <p:nvSpPr>
          <p:cNvPr id="302" name="Google Shape;302;p15">
            <a:extLst>
              <a:ext uri="{FF2B5EF4-FFF2-40B4-BE49-F238E27FC236}">
                <a16:creationId xmlns:a16="http://schemas.microsoft.com/office/drawing/2014/main" id="{C05A057F-B71A-106E-CD10-F1B384C97BC7}"/>
              </a:ext>
            </a:extLst>
          </p:cNvPr>
          <p:cNvSpPr txBox="1"/>
          <p:nvPr/>
        </p:nvSpPr>
        <p:spPr>
          <a:xfrm>
            <a:off x="574674" y="3976209"/>
            <a:ext cx="350964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Докладчик</a:t>
            </a:r>
            <a:r>
              <a:rPr lang="en-US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ru-RU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Шишкина Яна Борисовна</a:t>
            </a:r>
            <a:endParaRPr sz="1400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3" name="Google Shape;303;p15">
            <a:extLst>
              <a:ext uri="{FF2B5EF4-FFF2-40B4-BE49-F238E27FC236}">
                <a16:creationId xmlns:a16="http://schemas.microsoft.com/office/drawing/2014/main" id="{0931FCB8-324C-BB8E-04E4-1F47E18BF4CB}"/>
              </a:ext>
            </a:extLst>
          </p:cNvPr>
          <p:cNvSpPr txBox="1"/>
          <p:nvPr/>
        </p:nvSpPr>
        <p:spPr>
          <a:xfrm>
            <a:off x="574674" y="3502106"/>
            <a:ext cx="387540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Куратор</a:t>
            </a:r>
            <a:r>
              <a:rPr lang="en-US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ru-RU" dirty="0" err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Кирносенко</a:t>
            </a:r>
            <a:r>
              <a:rPr lang="ru-RU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Семён </a:t>
            </a:r>
            <a:r>
              <a:rPr lang="ru-RU" sz="1400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Игоревич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4090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235</Words>
  <Application>Microsoft Office PowerPoint</Application>
  <PresentationFormat>Широкоэкранный</PresentationFormat>
  <Paragraphs>46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Raleway Medium</vt:lpstr>
      <vt:lpstr>Raleway SemiBold</vt:lpstr>
      <vt:lpstr>Raleway</vt:lpstr>
      <vt:lpstr>Calibri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Евгения Арнаутова</dc:creator>
  <cp:lastModifiedBy>Yana Shishkina</cp:lastModifiedBy>
  <cp:revision>9</cp:revision>
  <dcterms:created xsi:type="dcterms:W3CDTF">2022-04-06T06:39:57Z</dcterms:created>
  <dcterms:modified xsi:type="dcterms:W3CDTF">2025-07-02T05:55:12Z</dcterms:modified>
</cp:coreProperties>
</file>